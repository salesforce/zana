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441eb92c394f84" /><Relationship Type="http://schemas.openxmlformats.org/officeDocument/2006/relationships/extended-properties" Target="/docProps/app.xml" Id="R5a3d8dadb34a4a03" /><Relationship Type="http://schemas.openxmlformats.org/officeDocument/2006/relationships/officeDocument" Target="/ppt/presentation.xml" Id="R29a1841e576548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1ae52b4ef54b78"/>
  </p:sldMasterIdLst>
  <p:notesMasterIdLst>
    <p:notesMasterId xmlns:r="http://schemas.openxmlformats.org/officeDocument/2006/relationships" r:id="R10998e258fe049fb"/>
  </p:notesMasterIdLst>
  <p:sldIdLst>
    <p:sldId xmlns:r="http://schemas.openxmlformats.org/officeDocument/2006/relationships" id="256" r:id="Rc713c3ae7f3c4a5b"/>
    <p:sldId xmlns:r="http://schemas.openxmlformats.org/officeDocument/2006/relationships" id="257" r:id="Rc94e2e61de0f4481"/>
    <p:sldId xmlns:r="http://schemas.openxmlformats.org/officeDocument/2006/relationships" id="258" r:id="Rab076318779342b5"/>
    <p:sldId xmlns:r="http://schemas.openxmlformats.org/officeDocument/2006/relationships" id="259" r:id="Rce51b0dba7c94379"/>
    <p:sldId xmlns:r="http://schemas.openxmlformats.org/officeDocument/2006/relationships" id="260" r:id="Rca545edf0d364dbc"/>
    <p:sldId xmlns:r="http://schemas.openxmlformats.org/officeDocument/2006/relationships" id="261" r:id="Ra56dbc60497b48d0"/>
    <p:sldId xmlns:r="http://schemas.openxmlformats.org/officeDocument/2006/relationships" id="262" r:id="R48f6e77939b74df9"/>
    <p:sldId xmlns:r="http://schemas.openxmlformats.org/officeDocument/2006/relationships" id="263" r:id="R18812dabeea748c2"/>
    <p:sldId xmlns:r="http://schemas.openxmlformats.org/officeDocument/2006/relationships" id="264" r:id="R4f352d36f8b84813"/>
    <p:sldId xmlns:r="http://schemas.openxmlformats.org/officeDocument/2006/relationships" id="265" r:id="R817d40f2f18044dd"/>
    <p:sldId xmlns:r="http://schemas.openxmlformats.org/officeDocument/2006/relationships" id="266" r:id="Rc847453673ea4876"/>
    <p:sldId xmlns:r="http://schemas.openxmlformats.org/officeDocument/2006/relationships" id="267" r:id="Ra1e8c75c237d4e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c6990579c43c9" /><Relationship Type="http://schemas.openxmlformats.org/officeDocument/2006/relationships/slideMaster" Target="/ppt/slideMasters/slideMaster1.xml" Id="R851ae52b4ef54b78" /><Relationship Type="http://schemas.openxmlformats.org/officeDocument/2006/relationships/notesMaster" Target="/ppt/notesMasters/notesMaster1.xml" Id="R10998e258fe049fb" /><Relationship Type="http://schemas.openxmlformats.org/officeDocument/2006/relationships/presProps" Target="/ppt/presProps.xml" Id="R06a4e1b8bf84468e" /><Relationship Type="http://schemas.openxmlformats.org/officeDocument/2006/relationships/tableStyles" Target="/ppt/tableStyles.xml" Id="R0bc8737f21dc4f6c" /><Relationship Type="http://schemas.openxmlformats.org/officeDocument/2006/relationships/slide" Target="/ppt/slides/slide1.xml" Id="Rc713c3ae7f3c4a5b" /><Relationship Type="http://schemas.openxmlformats.org/officeDocument/2006/relationships/slide" Target="/ppt/slides/slide2.xml" Id="Rc94e2e61de0f4481" /><Relationship Type="http://schemas.openxmlformats.org/officeDocument/2006/relationships/slide" Target="/ppt/slides/slide3.xml" Id="Rab076318779342b5" /><Relationship Type="http://schemas.openxmlformats.org/officeDocument/2006/relationships/slide" Target="/ppt/slides/slide4.xml" Id="Rce51b0dba7c94379" /><Relationship Type="http://schemas.openxmlformats.org/officeDocument/2006/relationships/slide" Target="/ppt/slides/slide5.xml" Id="Rca545edf0d364dbc" /><Relationship Type="http://schemas.openxmlformats.org/officeDocument/2006/relationships/slide" Target="/ppt/slides/slide6.xml" Id="Ra56dbc60497b48d0" /><Relationship Type="http://schemas.openxmlformats.org/officeDocument/2006/relationships/slide" Target="/ppt/slides/slide7.xml" Id="R48f6e77939b74df9" /><Relationship Type="http://schemas.openxmlformats.org/officeDocument/2006/relationships/slide" Target="/ppt/slides/slide8.xml" Id="R18812dabeea748c2" /><Relationship Type="http://schemas.openxmlformats.org/officeDocument/2006/relationships/slide" Target="/ppt/slides/slide9.xml" Id="R4f352d36f8b84813" /><Relationship Type="http://schemas.openxmlformats.org/officeDocument/2006/relationships/slide" Target="/ppt/slides/slide10.xml" Id="R817d40f2f18044dd" /><Relationship Type="http://schemas.openxmlformats.org/officeDocument/2006/relationships/slide" Target="/ppt/slides/slide11.xml" Id="Rc847453673ea4876" /><Relationship Type="http://schemas.openxmlformats.org/officeDocument/2006/relationships/slide" Target="/ppt/slides/slide12.xml" Id="Ra1e8c75c237d4e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4809023e940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Zana Fairy">
      <a:dk1>
        <a:srgbClr val="0D152B"/>
      </a:dk1>
      <a:lt1>
        <a:srgbClr val="F0F7FF"/>
      </a:lt1>
      <a:dk2>
        <a:srgbClr val="172641"/>
      </a:dk2>
      <a:lt2>
        <a:srgbClr val="D7E8FA"/>
      </a:lt2>
      <a:accent1>
        <a:srgbClr val="93DFFF"/>
      </a:accent1>
      <a:accent2>
        <a:srgbClr val="C0B9FF"/>
      </a:accent2>
      <a:accent3>
        <a:srgbClr val="FFDB9E"/>
      </a:accent3>
      <a:accent4>
        <a:srgbClr val="9CE5CD"/>
      </a:accent4>
      <a:accent5>
        <a:srgbClr val="7996E5"/>
      </a:accent5>
      <a:accent6>
        <a:srgbClr val="D7E8FA"/>
      </a:accent6>
      <a:hlink>
        <a:srgbClr val="93DFFF"/>
      </a:hlink>
      <a:folHlink>
        <a:srgbClr val="C0B9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Zana Fai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48cceeac3a4c66" /><Relationship Type="http://schemas.openxmlformats.org/officeDocument/2006/relationships/notesMaster" Target="/ppt/notesMasters/notesMaster1.xml" Id="Rc9434c58b34242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d4fbd5870442f3" /><Relationship Type="http://schemas.openxmlformats.org/officeDocument/2006/relationships/notesMaster" Target="/ppt/notesMasters/notesMaster1.xml" Id="Rb376ae0fa4fe4b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fa48f5f4d4703" /><Relationship Type="http://schemas.openxmlformats.org/officeDocument/2006/relationships/notesMaster" Target="/ppt/notesMasters/notesMaster1.xml" Id="R3ad25c10212848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ba8211499841f3" /><Relationship Type="http://schemas.openxmlformats.org/officeDocument/2006/relationships/notesMaster" Target="/ppt/notesMasters/notesMaster1.xml" Id="R779c0ed279ad43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0f2b68ac86446f" /><Relationship Type="http://schemas.openxmlformats.org/officeDocument/2006/relationships/notesMaster" Target="/ppt/notesMasters/notesMaster1.xml" Id="Rba53fb91227741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489e94bb894516" /><Relationship Type="http://schemas.openxmlformats.org/officeDocument/2006/relationships/notesMaster" Target="/ppt/notesMasters/notesMaster1.xml" Id="R4a18e7509d4746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e07f445464120" /><Relationship Type="http://schemas.openxmlformats.org/officeDocument/2006/relationships/notesMaster" Target="/ppt/notesMasters/notesMaster1.xml" Id="Rc080df255b2347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7b61d9350f4d65" /><Relationship Type="http://schemas.openxmlformats.org/officeDocument/2006/relationships/notesMaster" Target="/ppt/notesMasters/notesMaster1.xml" Id="R4b206a56120a49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208fb3ed27447f" /><Relationship Type="http://schemas.openxmlformats.org/officeDocument/2006/relationships/notesMaster" Target="/ppt/notesMasters/notesMaster1.xml" Id="R5c316953479e47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a65363a44745b5" /><Relationship Type="http://schemas.openxmlformats.org/officeDocument/2006/relationships/notesMaster" Target="/ppt/notesMasters/notesMaster1.xml" Id="Ra651a71cdc2549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6d60de944b487d" /><Relationship Type="http://schemas.openxmlformats.org/officeDocument/2006/relationships/notesMaster" Target="/ppt/notesMasters/notesMaster1.xml" Id="Rcdecda38770a4f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9bef256bbf49a7" /><Relationship Type="http://schemas.openxmlformats.org/officeDocument/2006/relationships/notesMaster" Target="/ppt/notesMasters/notesMaster1.xml" Id="Rc01567c87d0d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Artwork: resources/icon.svg and docs/assets/zana-readme-hero.svg in the Zana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The parallel tasks are an illustrative workflow, not a claim about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Screenshot: docs/assets/product-demo.gif, frame 20, cropped to the provider picker. This is the repository demo, not a capture of private customer work. The demo uses an older “Modern” label for Threads. Provider availability depends on installed integrations and CLIs.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Source: https://github.com/salesforce/zana/blob/main/docs/multiple-devices.md. Local, enrolled, and SSH locations are distinct connection paths; this diagram does not imply identical routing for every execution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Screenshot: docs/assets/product-demo.gif, frame 120, cropped to Thread progress and the diff pane. The checkout example comes from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Screenshot: docs/assets/screenshot-agents-board.gif, frame 0, cropped to the board. This is an existing public repository capture; displayed tasks are illustrative product content, not performance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Illustrative question and response, created for this deck. Source for reply routing: https://github.com/salesforce/zana/blob/main/docs/getting-started.md#5-close-the-loop-from-the-inbox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The finding document is an illustrative example based on the checkout-test product tour. It is not a screenshot or a claim of real test results. Source: https://github.com/salesforce/zana/blob/main/docs/using-zana.md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Goals, teams, personas, and schedules are complementary features, not mandatory sequential stages.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Sources: docs/assets/zana-architecture.svg; https://github.com/salesforce/zana/blob/main/docs/architecture/high-level-architecture.md; apps/desktop/src/runtime/runtime-supervisor.ts; apps/server/src/http/cli-agent-ops.ts. The crop retains the full trusted-services layer. CLI Agents still use the Electron compatibility launch path; this deck does not imply that path has migrated to Thread RPC. Full architecture image accompanies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Sources: docs/assets/zana-plugins.svg; https://github.com/salesforce/zana/blob/main/docs/extensions.md; https://github.com/salesforce/zana/blob/main/docs/extensions-sdk-reference.md. The image crop shows the manifest, server code, UI, and RPC/event relationship. Server code is full-trust in process. Skills and CLI MCP are manifest contributions; Thread tools register at runtime. Full plugin image accompanies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https://github.com/salesforce/zana/blob/main/README.md; https://github.com/salesforce/zana/blob/main/docs/using-zana.md. Repository snapshot reviewed September 2026. Download: https://github.com/salesforce/zana/releases/latest. Local prerequisites: Node.js 20+, Git, and an installed/authenticated coding-agent CLI. Source development and remote execution hosts require Node.js 22+. Releases are available for Apple Silicon and Intel Macs. License: https://github.com/salesforce/zana/blob/main/LICENSE.txt.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5afe40d24b4e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bed188dff4ce2" /><Relationship Type="http://schemas.openxmlformats.org/officeDocument/2006/relationships/slideLayout" Target="/ppt/slideLayouts/slideLayout1.xml" Id="Rc5972ba7fe394e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972ba7fe394e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Zana Fairy">
      <a:dk1>
        <a:srgbClr val="0D152B"/>
      </a:dk1>
      <a:lt1>
        <a:srgbClr val="F0F7FF"/>
      </a:lt1>
      <a:dk2>
        <a:srgbClr val="172641"/>
      </a:dk2>
      <a:lt2>
        <a:srgbClr val="D7E8FA"/>
      </a:lt2>
      <a:accent1>
        <a:srgbClr val="93DFFF"/>
      </a:accent1>
      <a:accent2>
        <a:srgbClr val="C0B9FF"/>
      </a:accent2>
      <a:accent3>
        <a:srgbClr val="FFDB9E"/>
      </a:accent3>
      <a:accent4>
        <a:srgbClr val="9CE5CD"/>
      </a:accent4>
      <a:accent5>
        <a:srgbClr val="7996E5"/>
      </a:accent5>
      <a:accent6>
        <a:srgbClr val="D7E8FA"/>
      </a:accent6>
      <a:hlink>
        <a:srgbClr val="93DFFF"/>
      </a:hlink>
      <a:folHlink>
        <a:srgbClr val="C0B9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Zana Fai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c4243c044d8f" /><Relationship Type="http://schemas.openxmlformats.org/officeDocument/2006/relationships/image" Target="/ppt/media/image.png" Id="R74bc2e3e25b849bd" /><Relationship Type="http://schemas.openxmlformats.org/officeDocument/2006/relationships/hyperlink" Target="https://zana-ide.com/" TargetMode="External" Id="R43469abfdb454ca2" /><Relationship Type="http://schemas.openxmlformats.org/officeDocument/2006/relationships/notesSlide" Target="/ppt/notesSlides/notesSlide1.xml" Id="Rc0c890e399584d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2b56e407c489a" /><Relationship Type="http://schemas.openxmlformats.org/officeDocument/2006/relationships/notesSlide" Target="/ppt/notesSlides/notesSlide2.xml" Id="R28ce30d807ce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ec63799e5478d" /><Relationship Type="http://schemas.openxmlformats.org/officeDocument/2006/relationships/image" Target="/ppt/media/image2.png" Id="R24111f8b1aea4888" /><Relationship Type="http://schemas.openxmlformats.org/officeDocument/2006/relationships/notesSlide" Target="/ppt/notesSlides/notesSlide3.xml" Id="R23261282d4f5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dca010a9e4b46" /><Relationship Type="http://schemas.openxmlformats.org/officeDocument/2006/relationships/notesSlide" Target="/ppt/notesSlides/notesSlide4.xml" Id="Re9c57876580c45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24366dedb4b5f" /><Relationship Type="http://schemas.openxmlformats.org/officeDocument/2006/relationships/image" Target="/ppt/media/image3.png" Id="Rc6e048c353fd4cd7" /><Relationship Type="http://schemas.openxmlformats.org/officeDocument/2006/relationships/notesSlide" Target="/ppt/notesSlides/notesSlide5.xml" Id="R0964212077934f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60823c9564b51" /><Relationship Type="http://schemas.openxmlformats.org/officeDocument/2006/relationships/image" Target="/ppt/media/image4.png" Id="Rea3b4204e29c4f1f" /><Relationship Type="http://schemas.openxmlformats.org/officeDocument/2006/relationships/notesSlide" Target="/ppt/notesSlides/notesSlide6.xml" Id="R4390bc202da8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ad74f3b294052" /><Relationship Type="http://schemas.openxmlformats.org/officeDocument/2006/relationships/notesSlide" Target="/ppt/notesSlides/notesSlide7.xml" Id="R848946844c6949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c66c41c684551" /><Relationship Type="http://schemas.openxmlformats.org/officeDocument/2006/relationships/notesSlide" Target="/ppt/notesSlides/notesSlide8.xml" Id="Ra5b9750e956940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bdb1a5048476a" /><Relationship Type="http://schemas.openxmlformats.org/officeDocument/2006/relationships/notesSlide" Target="/ppt/notesSlides/notesSlide9.xml" Id="Rc49b0e3b6b6946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1484b89ac43fb" /><Relationship Type="http://schemas.openxmlformats.org/officeDocument/2006/relationships/image" Target="/ppt/media/image5.png" Id="R204a04c141294a16" /><Relationship Type="http://schemas.openxmlformats.org/officeDocument/2006/relationships/notesSlide" Target="/ppt/notesSlides/notesSlide10.xml" Id="Rdddee0f825a44b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f6b8622914bd3" /><Relationship Type="http://schemas.openxmlformats.org/officeDocument/2006/relationships/image" Target="/ppt/media/image6.png" Id="Rb8a587ab9a974bb6" /><Relationship Type="http://schemas.openxmlformats.org/officeDocument/2006/relationships/notesSlide" Target="/ppt/notesSlides/notesSlide11.xml" Id="Rbd42db03852f4c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384ae9db746a9" /><Relationship Type="http://schemas.openxmlformats.org/officeDocument/2006/relationships/image" Target="/ppt/media/image7.png" Id="Rfa5aa07168244f72" /><Relationship Type="http://schemas.openxmlformats.org/officeDocument/2006/relationships/hyperlink" Target="https://zana-ide.com/" TargetMode="External" Id="R705b55c955e3404e" /><Relationship Type="http://schemas.openxmlformats.org/officeDocument/2006/relationships/hyperlink" Target="https://github.com/salesforce/zana" TargetMode="External" Id="Re9f5114cc52142d2" /><Relationship Type="http://schemas.openxmlformats.org/officeDocument/2006/relationships/notesSlide" Target="/ppt/notesSlides/notesSlide12.xml" Id="Rb07919f0e1b4468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FE798DA-9BA6-417E-8421-5CD93A95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05876E-BE4E-47FA-AC76-48549C5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59AAFA7-D506-4B86-A531-41C272C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685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Meet Zana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97FF32-1219-4C83-80DC-C0240B6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600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A command center</a:t>
            </a:r>
          </a:p>
          <a:p xmlns:a="http://schemas.openxmlformats.org/drawingml/2006/main">
            <a:pPr algn="l">
              <a:defRPr sz="31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for AI coding agents</a:t>
            </a: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8103541-E5C9-4701-BDE0-9E9E2656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95750"/>
            <a:ext cx="590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Run your tools across your projects.</a:t>
            </a:r>
          </a:p>
          <a:p xmlns:a="http://schemas.openxmlformats.org/drawingml/2006/main">
            <a:pPr algn="l">
              <a:defRPr sz="21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Keep decisions and results in view.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c2e3e25b849bd"/>
          <a:stretch xmlns:a="http://schemas.openxmlformats.org/drawingml/2006/main"/>
        </p:blipFill>
        <p:spPr>
          <a:xfrm xmlns:a="http://schemas.openxmlformats.org/drawingml/2006/main">
            <a:off x="7477385" y="838200"/>
            <a:ext cx="4285730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cover-url">
            <a:extLst xmlns:a="http://schemas.openxmlformats.org/drawingml/2006/main">
              <a:ext uri="{FF2B5EF4-FFF2-40B4-BE49-F238E27FC236}">
                <a16:creationId xmlns:a16="http://schemas.microsoft.com/office/drawing/2014/main" id="{8BA22045-2514-4C21-B6D6-2408D0AE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3DFFF"/>
                </a:solidFill>
                <a:latin typeface="Arial"/>
                <a:ea typeface="Arial"/>
                <a:cs typeface="Arial"/>
                <a:hlinkClick xmlns:r="http://schemas.openxmlformats.org/officeDocument/2006/relationships" r:id="R43469abfdb454ca2"/>
              </a:rPr>
              <a:t>zana-ide.com</a:t>
            </a:r>
          </a:p>
        </p:txBody>
      </p:sp>
    </p:spTree>
    <p:extLst>
      <p:ext uri="{BB962C8B-B14F-4D97-AF65-F5344CB8AC3E}">
        <p14:creationId xmlns:p14="http://schemas.microsoft.com/office/powerpoint/2010/main" val="134012340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981CDD3B-EA9C-4817-937D-598C67DC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Multiple agents create coordination work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E7DD24-D114-4E1C-9084-AFFB9D16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Each session can produce progress, questions, and results.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0F087C3-3E8A-46E8-AEA5-BA068C00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785A20-07D5-44F7-A1E9-3456826A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ask-0">
            <a:extLst xmlns:a="http://schemas.openxmlformats.org/drawingml/2006/main">
              <a:ext uri="{FF2B5EF4-FFF2-40B4-BE49-F238E27FC236}">
                <a16:creationId xmlns:a16="http://schemas.microsoft.com/office/drawing/2014/main" id="{1C5ADFC8-42CB-4E6C-87C3-DE77D52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581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11430">
            <a:solidFill>
              <a:srgbClr val="93DFFF"/>
            </a:solidFill>
            <a:prstDash val="solid"/>
          </a:ln>
        </p:spPr>
      </p:sp>
      <p:sp>
        <p:nvSpPr>
          <p:cNvPr id="6" name="task-title-0">
            <a:extLst xmlns:a="http://schemas.openxmlformats.org/drawingml/2006/main">
              <a:ext uri="{FF2B5EF4-FFF2-40B4-BE49-F238E27FC236}">
                <a16:creationId xmlns:a16="http://schemas.microsoft.com/office/drawing/2014/main" id="{28976CDB-A6FD-4AB1-9C18-FC2A652F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Code change</a:t>
            </a:r>
          </a:p>
        </p:txBody>
      </p:sp>
      <p:sp>
        <p:nvSpPr>
          <p:cNvPr id="7" name="task-body-0">
            <a:extLst xmlns:a="http://schemas.openxmlformats.org/drawingml/2006/main">
              <a:ext uri="{FF2B5EF4-FFF2-40B4-BE49-F238E27FC236}">
                <a16:creationId xmlns:a16="http://schemas.microsoft.com/office/drawing/2014/main" id="{E1FE92A8-0510-49C2-AD66-B7E64FB0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 patch needs review</a:t>
            </a:r>
          </a:p>
        </p:txBody>
      </p:sp>
      <p:sp>
        <p:nvSpPr>
          <p:cNvPr id="8" name="task-1">
            <a:extLst xmlns:a="http://schemas.openxmlformats.org/drawingml/2006/main">
              <a:ext uri="{FF2B5EF4-FFF2-40B4-BE49-F238E27FC236}">
                <a16:creationId xmlns:a16="http://schemas.microsoft.com/office/drawing/2014/main" id="{D7A54E64-8295-48BD-BE15-17919BA6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3581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11430">
            <a:solidFill>
              <a:srgbClr val="C0B9FF"/>
            </a:solidFill>
            <a:prstDash val="solid"/>
          </a:ln>
        </p:spPr>
      </p:sp>
      <p:sp>
        <p:nvSpPr>
          <p:cNvPr id="9" name="task-title-1">
            <a:extLst xmlns:a="http://schemas.openxmlformats.org/drawingml/2006/main">
              <a:ext uri="{FF2B5EF4-FFF2-40B4-BE49-F238E27FC236}">
                <a16:creationId xmlns:a16="http://schemas.microsoft.com/office/drawing/2014/main" id="{0B5888C3-9CEA-4259-9931-330CEF01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0B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0B9FF"/>
                </a:solidFill>
                <a:latin typeface="Arial"/>
                <a:ea typeface="Arial"/>
                <a:cs typeface="Arial"/>
              </a:rPr>
              <a:t>Investigation</a:t>
            </a:r>
          </a:p>
        </p:txBody>
      </p:sp>
      <p:sp>
        <p:nvSpPr>
          <p:cNvPr id="10" name="task-body-1">
            <a:extLst xmlns:a="http://schemas.openxmlformats.org/drawingml/2006/main">
              <a:ext uri="{FF2B5EF4-FFF2-40B4-BE49-F238E27FC236}">
                <a16:creationId xmlns:a16="http://schemas.microsoft.com/office/drawing/2014/main" id="{B3D71473-FBD9-434C-820A-EA1CECA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 question needs an answer</a:t>
            </a:r>
          </a:p>
        </p:txBody>
      </p:sp>
      <p:sp>
        <p:nvSpPr>
          <p:cNvPr id="11" name="task-2">
            <a:extLst xmlns:a="http://schemas.openxmlformats.org/drawingml/2006/main">
              <a:ext uri="{FF2B5EF4-FFF2-40B4-BE49-F238E27FC236}">
                <a16:creationId xmlns:a16="http://schemas.microsoft.com/office/drawing/2014/main" id="{649E4C29-04A8-4D3F-82FF-57690361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581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11430">
            <a:solidFill>
              <a:srgbClr val="FFDB9E"/>
            </a:solidFill>
            <a:prstDash val="solid"/>
          </a:ln>
        </p:spPr>
      </p:sp>
      <p:sp>
        <p:nvSpPr>
          <p:cNvPr id="12" name="task-title-2">
            <a:extLst xmlns:a="http://schemas.openxmlformats.org/drawingml/2006/main">
              <a:ext uri="{FF2B5EF4-FFF2-40B4-BE49-F238E27FC236}">
                <a16:creationId xmlns:a16="http://schemas.microsoft.com/office/drawing/2014/main" id="{00CE644B-51A5-437A-A022-1C5F1803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task-body-2">
            <a:extLst xmlns:a="http://schemas.openxmlformats.org/drawingml/2006/main">
              <a:ext uri="{FF2B5EF4-FFF2-40B4-BE49-F238E27FC236}">
                <a16:creationId xmlns:a16="http://schemas.microsoft.com/office/drawing/2014/main" id="{D56A2C33-A6F5-4DEF-AB2D-F589662A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Findings need a home</a:t>
            </a:r>
          </a:p>
        </p:txBody>
      </p:sp>
      <p:sp>
        <p:nvSpPr>
          <p:cNvPr id="14" name="operator">
            <a:extLst xmlns:a="http://schemas.openxmlformats.org/drawingml/2006/main">
              <a:ext uri="{FF2B5EF4-FFF2-40B4-BE49-F238E27FC236}">
                <a16:creationId xmlns:a16="http://schemas.microsoft.com/office/drawing/2014/main" id="{352386B7-C339-4DAE-B484-5D75BE3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48000"/>
            <a:ext cx="5448300" cy="2066925"/>
          </a:xfrm>
          <a:prstGeom xmlns:a="http://schemas.openxmlformats.org/drawingml/2006/main" prst="roundRect">
            <a:avLst>
              <a:gd name="adj" fmla="val 5530"/>
            </a:avLst>
          </a:prstGeom>
          <a:solidFill xmlns:a="http://schemas.openxmlformats.org/drawingml/2006/main">
            <a:srgbClr val="192C48"/>
          </a:solidFill>
          <a:ln xmlns:a="http://schemas.openxmlformats.org/drawingml/2006/main" w="11430">
            <a:solidFill>
              <a:srgbClr val="496B91"/>
            </a:solidFill>
            <a:prstDash val="solid"/>
          </a:ln>
        </p:spPr>
      </p:sp>
      <p:sp>
        <p:nvSpPr>
          <p:cNvPr id="15" name="operator-title">
            <a:extLst xmlns:a="http://schemas.openxmlformats.org/drawingml/2006/main">
              <a:ext uri="{FF2B5EF4-FFF2-40B4-BE49-F238E27FC236}">
                <a16:creationId xmlns:a16="http://schemas.microsoft.com/office/drawing/2014/main" id="{F6A8AECF-C79C-42BA-8C47-99CAF9C9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Your attention</a:t>
            </a:r>
          </a:p>
        </p:txBody>
      </p:sp>
      <p:sp>
        <p:nvSpPr>
          <p:cNvPr id="16" name="operator-body">
            <a:extLst xmlns:a="http://schemas.openxmlformats.org/drawingml/2006/main">
              <a:ext uri="{FF2B5EF4-FFF2-40B4-BE49-F238E27FC236}">
                <a16:creationId xmlns:a16="http://schemas.microsoft.com/office/drawing/2014/main" id="{41288825-D3F2-4047-B558-E9BBD72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Which session needs you?</a:t>
            </a:r>
          </a:p>
          <a:p xmlns:a="http://schemas.openxmlformats.org/drawingml/2006/main">
            <a:pPr algn="l">
              <a:defRPr sz="18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What is ready to review?</a:t>
            </a:r>
          </a:p>
          <a:p xmlns:a="http://schemas.openxmlformats.org/drawingml/2006/main">
            <a:pPr algn="l">
              <a:defRPr sz="18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What should the next agent know?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210050" y="2724150"/>
            <a:ext cx="1552575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3DFFF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210050" y="4029075"/>
            <a:ext cx="1552575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0B9FF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210050" y="4081463"/>
            <a:ext cx="1552575" cy="1252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DB9E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7437238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504FE0D-F200-489A-8D3E-771425C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Your existing coding tools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EADD4D-0B75-4495-93E2-28FA6DE5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Choose a structured Thread or a native CLI Agent session.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2921BD5-8151-4372-8A75-9EB3A4B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C172E96-EA85-462C-A6D6-E084F37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ool-0">
            <a:extLst xmlns:a="http://schemas.openxmlformats.org/drawingml/2006/main">
              <a:ext uri="{FF2B5EF4-FFF2-40B4-BE49-F238E27FC236}">
                <a16:creationId xmlns:a16="http://schemas.microsoft.com/office/drawing/2014/main" id="{B35CE25D-BF3C-40A3-9105-B970F55C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Claude Code</a:t>
            </a:r>
          </a:p>
        </p:txBody>
      </p:sp>
      <p:sp>
        <p:nvSpPr>
          <p:cNvPr id="6" name="tool-1">
            <a:extLst xmlns:a="http://schemas.openxmlformats.org/drawingml/2006/main">
              <a:ext uri="{FF2B5EF4-FFF2-40B4-BE49-F238E27FC236}">
                <a16:creationId xmlns:a16="http://schemas.microsoft.com/office/drawing/2014/main" id="{8606E476-5C41-4915-898C-AA80909A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7" name="tool-2">
            <a:extLst xmlns:a="http://schemas.openxmlformats.org/drawingml/2006/main">
              <a:ext uri="{FF2B5EF4-FFF2-40B4-BE49-F238E27FC236}">
                <a16:creationId xmlns:a16="http://schemas.microsoft.com/office/drawing/2014/main" id="{2BD1949F-6A5C-4AFD-946A-613A3435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3DFFF"/>
                </a:solidFill>
                <a:latin typeface="Arial"/>
                <a:ea typeface="Arial"/>
                <a:cs typeface="Arial"/>
              </a:rPr>
              <a:t>Cursor</a:t>
            </a:r>
          </a:p>
        </p:txBody>
      </p:sp>
      <p:sp>
        <p:nvSpPr>
          <p:cNvPr id="8" name="tool-3">
            <a:extLst xmlns:a="http://schemas.openxmlformats.org/drawingml/2006/main">
              <a:ext uri="{FF2B5EF4-FFF2-40B4-BE49-F238E27FC236}">
                <a16:creationId xmlns:a16="http://schemas.microsoft.com/office/drawing/2014/main" id="{39ED5513-8C77-4E82-9E76-F0AE172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OpenCode</a:t>
            </a:r>
          </a:p>
        </p:txBody>
      </p:sp>
      <p:sp>
        <p:nvSpPr>
          <p:cNvPr id="9" name="tool-4">
            <a:extLst xmlns:a="http://schemas.openxmlformats.org/drawingml/2006/main">
              <a:ext uri="{FF2B5EF4-FFF2-40B4-BE49-F238E27FC236}">
                <a16:creationId xmlns:a16="http://schemas.microsoft.com/office/drawing/2014/main" id="{1DA17CCE-5D16-408B-96A7-2E08CE4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3DFFF"/>
                </a:solidFill>
                <a:latin typeface="Arial"/>
                <a:ea typeface="Arial"/>
                <a:cs typeface="Arial"/>
              </a:rPr>
              <a:t>Pi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11f8b1aea4888"/>
          <a:stretch xmlns:a="http://schemas.openxmlformats.org/drawingml/2006/main"/>
        </p:blipFill>
        <p:spPr>
          <a:xfrm xmlns:a="http://schemas.openxmlformats.org/drawingml/2006/main">
            <a:off x="4191000" y="2041092"/>
            <a:ext cx="7410450" cy="3480666"/>
          </a:xfrm>
          <a:prstGeom xmlns:a="http://schemas.openxmlformats.org/drawingml/2006/main" prst="rect">
            <a:avLst/>
          </a:prstGeom>
        </p:spPr>
      </p:pic>
      <p:sp>
        <p:nvSpPr>
          <p:cNvPr id="11" name="picker-caption">
            <a:extLst xmlns:a="http://schemas.openxmlformats.org/drawingml/2006/main">
              <a:ext uri="{FF2B5EF4-FFF2-40B4-BE49-F238E27FC236}">
                <a16:creationId xmlns:a16="http://schemas.microsoft.com/office/drawing/2014/main" id="{C47D3657-0BFB-4AF1-883D-3AE6232E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67375"/>
            <a:ext cx="7210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B9E"/>
                </a:solidFill>
                <a:latin typeface="Arial"/>
                <a:ea typeface="Arial"/>
                <a:cs typeface="Arial"/>
              </a:rPr>
              <a:t>Choose the agent for the task</a:t>
            </a:r>
          </a:p>
        </p:txBody>
      </p:sp>
    </p:spTree>
    <p:extLst>
      <p:ext uri="{BB962C8B-B14F-4D97-AF65-F5344CB8AC3E}">
        <p14:creationId xmlns:p14="http://schemas.microsoft.com/office/powerpoint/2010/main" val="177599618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1A6F6F6C-4AB7-4799-820B-F1CE5DBC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Projects across your machines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3CF926-1CCF-453A-9DD9-A732B76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Keep the repository, agent session, and files in context.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5715B40-F877-4F6F-B9FB-ADC87963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662789-3A8B-48EE-B1A2-AAA831DE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project-root">
            <a:extLst xmlns:a="http://schemas.openxmlformats.org/drawingml/2006/main">
              <a:ext uri="{FF2B5EF4-FFF2-40B4-BE49-F238E27FC236}">
                <a16:creationId xmlns:a16="http://schemas.microsoft.com/office/drawing/2014/main" id="{0646D75F-5025-41DD-817B-88049E7D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429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92C48"/>
          </a:solidFill>
          <a:ln xmlns:a="http://schemas.openxmlformats.org/drawingml/2006/main" w="11430">
            <a:solidFill>
              <a:srgbClr val="496B91"/>
            </a:solidFill>
            <a:prstDash val="solid"/>
          </a:ln>
        </p:spPr>
      </p:sp>
      <p:sp>
        <p:nvSpPr>
          <p:cNvPr id="6" name="project-root-title">
            <a:extLst xmlns:a="http://schemas.openxmlformats.org/drawingml/2006/main">
              <a:ext uri="{FF2B5EF4-FFF2-40B4-BE49-F238E27FC236}">
                <a16:creationId xmlns:a16="http://schemas.microsoft.com/office/drawing/2014/main" id="{8328C006-56CD-40AE-BB7E-D417D81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6230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Zana Projects</a:t>
            </a:r>
          </a:p>
        </p:txBody>
      </p:sp>
      <p:sp>
        <p:nvSpPr>
          <p:cNvPr id="7" name="project-root-body">
            <a:extLst xmlns:a="http://schemas.openxmlformats.org/drawingml/2006/main">
              <a:ext uri="{FF2B5EF4-FFF2-40B4-BE49-F238E27FC236}">
                <a16:creationId xmlns:a16="http://schemas.microsoft.com/office/drawing/2014/main" id="{ACAD5F8A-C3A8-43F4-8F0F-7153B1D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95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 shared place to</a:t>
            </a:r>
          </a:p>
          <a:p xmlns:a="http://schemas.openxmlformats.org/drawingml/2006/main">
            <a:pPr algn="l">
              <a:defRPr sz="20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organize your work</a:t>
            </a:r>
          </a:p>
        </p:txBody>
      </p:sp>
      <p:sp>
        <p:nvSpPr>
          <p:cNvPr id="8" name="project-location-0">
            <a:extLst xmlns:a="http://schemas.openxmlformats.org/drawingml/2006/main">
              <a:ext uri="{FF2B5EF4-FFF2-40B4-BE49-F238E27FC236}">
                <a16:creationId xmlns:a16="http://schemas.microsoft.com/office/drawing/2014/main" id="{553300C9-84DA-4388-8BCC-74A77E1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47875"/>
            <a:ext cx="52673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11430">
            <a:solidFill>
              <a:srgbClr val="93DFFF"/>
            </a:solidFill>
            <a:prstDash val="solid"/>
          </a:ln>
        </p:spPr>
      </p:sp>
      <p:sp>
        <p:nvSpPr>
          <p:cNvPr id="9" name="location-title-0">
            <a:extLst xmlns:a="http://schemas.openxmlformats.org/drawingml/2006/main">
              <a:ext uri="{FF2B5EF4-FFF2-40B4-BE49-F238E27FC236}">
                <a16:creationId xmlns:a16="http://schemas.microsoft.com/office/drawing/2014/main" id="{FE8F8C4C-7ADA-4395-9C75-7E0F9E56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19325"/>
            <a:ext cx="478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This Mac</a:t>
            </a:r>
          </a:p>
        </p:txBody>
      </p:sp>
      <p:sp>
        <p:nvSpPr>
          <p:cNvPr id="10" name="location-body-0">
            <a:extLst xmlns:a="http://schemas.openxmlformats.org/drawingml/2006/main">
              <a:ext uri="{FF2B5EF4-FFF2-40B4-BE49-F238E27FC236}">
                <a16:creationId xmlns:a16="http://schemas.microsoft.com/office/drawing/2014/main" id="{0E9130C8-1D29-46C7-AFF0-6FD3751F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Local repositories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114800" y="2600325"/>
            <a:ext cx="2047875" cy="1228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3DFFF"/>
            </a:solidFill>
            <a:prstDash val="solid"/>
            <a:tailEnd type="arrow" w="sm" len="sm"/>
          </a:ln>
        </p:spPr>
      </p:cxnSp>
      <p:sp>
        <p:nvSpPr>
          <p:cNvPr id="12" name="project-location-1">
            <a:extLst xmlns:a="http://schemas.openxmlformats.org/drawingml/2006/main">
              <a:ext uri="{FF2B5EF4-FFF2-40B4-BE49-F238E27FC236}">
                <a16:creationId xmlns:a16="http://schemas.microsoft.com/office/drawing/2014/main" id="{E7FAEAD9-1152-41B3-8CD9-3970C9EE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67100"/>
            <a:ext cx="52673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11430">
            <a:solidFill>
              <a:srgbClr val="C0B9FF"/>
            </a:solidFill>
            <a:prstDash val="solid"/>
          </a:ln>
        </p:spPr>
      </p:sp>
      <p:sp>
        <p:nvSpPr>
          <p:cNvPr id="13" name="location-title-1">
            <a:extLst xmlns:a="http://schemas.openxmlformats.org/drawingml/2006/main">
              <a:ext uri="{FF2B5EF4-FFF2-40B4-BE49-F238E27FC236}">
                <a16:creationId xmlns:a16="http://schemas.microsoft.com/office/drawing/2014/main" id="{A950CC24-9C9B-4C57-B280-A4DA31BB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478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0B9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0B9FF"/>
                </a:solidFill>
                <a:latin typeface="Arial"/>
                <a:ea typeface="Arial"/>
                <a:cs typeface="Arial"/>
              </a:rPr>
              <a:t>Enrolled machines</a:t>
            </a:r>
          </a:p>
        </p:txBody>
      </p:sp>
      <p:sp>
        <p:nvSpPr>
          <p:cNvPr id="14" name="location-body-1">
            <a:extLst xmlns:a="http://schemas.openxmlformats.org/drawingml/2006/main">
              <a:ext uri="{FF2B5EF4-FFF2-40B4-BE49-F238E27FC236}">
                <a16:creationId xmlns:a16="http://schemas.microsoft.com/office/drawing/2014/main" id="{76C72A18-6ECE-4CA6-89CD-3E341355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850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Paired execution hosts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14800" y="3829050"/>
            <a:ext cx="20478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0B9FF"/>
            </a:solidFill>
            <a:prstDash val="solid"/>
            <a:tailEnd type="arrow" w="sm" len="sm"/>
          </a:ln>
        </p:spPr>
      </p:cxnSp>
      <p:sp>
        <p:nvSpPr>
          <p:cNvPr id="16" name="project-location-2">
            <a:extLst xmlns:a="http://schemas.openxmlformats.org/drawingml/2006/main">
              <a:ext uri="{FF2B5EF4-FFF2-40B4-BE49-F238E27FC236}">
                <a16:creationId xmlns:a16="http://schemas.microsoft.com/office/drawing/2014/main" id="{AFE8C9A3-EEF4-4836-AE8B-DF6646F8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86325"/>
            <a:ext cx="5267325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72641"/>
          </a:solidFill>
          <a:ln xmlns:a="http://schemas.openxmlformats.org/drawingml/2006/main" w="11430">
            <a:solidFill>
              <a:srgbClr val="FFDB9E"/>
            </a:solidFill>
            <a:prstDash val="solid"/>
          </a:ln>
        </p:spPr>
      </p:sp>
      <p:sp>
        <p:nvSpPr>
          <p:cNvPr id="17" name="location-title-2">
            <a:extLst xmlns:a="http://schemas.openxmlformats.org/drawingml/2006/main">
              <a:ext uri="{FF2B5EF4-FFF2-40B4-BE49-F238E27FC236}">
                <a16:creationId xmlns:a16="http://schemas.microsoft.com/office/drawing/2014/main" id="{3DE6400F-8D6F-4661-A00B-572D0AFA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57775"/>
            <a:ext cx="4781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SSH projects</a:t>
            </a:r>
          </a:p>
        </p:txBody>
      </p:sp>
      <p:sp>
        <p:nvSpPr>
          <p:cNvPr id="18" name="location-body-2">
            <a:extLst xmlns:a="http://schemas.openxmlformats.org/drawingml/2006/main">
              <a:ext uri="{FF2B5EF4-FFF2-40B4-BE49-F238E27FC236}">
                <a16:creationId xmlns:a16="http://schemas.microsoft.com/office/drawing/2014/main" id="{AD6EBBF1-AB95-43CC-B738-8D8EA00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53075"/>
            <a:ext cx="478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Existing remote environments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14800" y="3829050"/>
            <a:ext cx="2047875" cy="1609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DB9E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211947926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42582D88-BEA9-44D2-942A-DEB5A6F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The everyday workflow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26E69C-AE8A-4F69-8140-8CA42CA4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 task stays connected to its progress and its outcome.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0FAEAB9-AE05-4F75-AC9E-9363EDB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9ED4087-D299-4882-80BB-A8B66E08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4CC50D4C-CB18-4C76-81C3-0E9FF6FE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2466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95F658AD-0A0F-40F3-9538-0AF29A2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Set the task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76E3F87-40FD-4DAE-B743-226AB5EF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619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Choose a project</a:t>
            </a:r>
          </a:p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and describe the work.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B7A80203-876C-43AD-AF3E-BE014204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47875"/>
            <a:ext cx="2466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C0B9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C0B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73A9C390-DAE2-4E37-8944-C128505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289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Run the agents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03ECD19-824A-429A-8B47-E536045E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2619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Start a Thread,</a:t>
            </a:r>
          </a:p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CLI Agent, or Team.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533C1B2-48A0-4B49-9BB5-A7850ECB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466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6DF420EF-7335-4717-A5FE-F2815D0F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Answer and review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8551F0B-1018-4EA9-B314-6E72EDF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2619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Resolve questions</a:t>
            </a:r>
          </a:p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and inspect the result.</a:t>
            </a:r>
          </a:p>
        </p:txBody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AB25B86D-6CE6-4AFA-8789-2C558B6B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47875"/>
            <a:ext cx="2466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9CE5CD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CE5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480443EF-C8FE-4E7E-948D-8FFEA9CB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28925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Keep the result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5F0049F-CA11-4777-9732-7D9AE66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2619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Save the findings</a:t>
            </a:r>
          </a:p>
          <a:p xmlns:a="http://schemas.openxmlformats.org/drawingml/2006/main">
            <a:pPr algn="l">
              <a:defRPr sz="17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for future work.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048c353fd4cd7"/>
          <a:stretch xmlns:a="http://schemas.openxmlformats.org/drawingml/2006/main"/>
        </p:blipFill>
        <p:spPr>
          <a:xfrm xmlns:a="http://schemas.openxmlformats.org/drawingml/2006/main">
            <a:off x="609600" y="4315032"/>
            <a:ext cx="7667625" cy="2076036"/>
          </a:xfrm>
          <a:prstGeom xmlns:a="http://schemas.openxmlformats.org/drawingml/2006/main" prst="rect">
            <a:avLst/>
          </a:prstGeom>
        </p:spPr>
      </p:pic>
      <p:sp>
        <p:nvSpPr>
          <p:cNvPr id="18" name="review-caption">
            <a:extLst xmlns:a="http://schemas.openxmlformats.org/drawingml/2006/main">
              <a:ext uri="{FF2B5EF4-FFF2-40B4-BE49-F238E27FC236}">
                <a16:creationId xmlns:a16="http://schemas.microsoft.com/office/drawing/2014/main" id="{7BDBA8CA-10D8-4774-8CD9-29B44B3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29150"/>
            <a:ext cx="2914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Progress and a diff,</a:t>
            </a:r>
          </a:p>
          <a:p xmlns:a="http://schemas.openxmlformats.org/drawingml/2006/main">
            <a:pPr algn="l">
              <a:defRPr sz="22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side by side</a:t>
            </a:r>
          </a:p>
        </p:txBody>
      </p:sp>
    </p:spTree>
    <p:extLst>
      <p:ext uri="{BB962C8B-B14F-4D97-AF65-F5344CB8AC3E}">
        <p14:creationId xmlns:p14="http://schemas.microsoft.com/office/powerpoint/2010/main" val="67615736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3DDB7BD-F50E-4E97-B7B4-A5813EF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One view of the fleet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2B2E1E-D0CD-4F4A-A6DD-668A93F5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Find the sessions that need attention across your projects.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D002136-A954-48B8-8FE2-BCC9B68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747CFD7-CCDB-4DA6-9BAE-CE25BA2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b4204e29c4f1f"/>
          <a:stretch xmlns:a="http://schemas.openxmlformats.org/drawingml/2006/main"/>
        </p:blipFill>
        <p:spPr>
          <a:xfrm xmlns:a="http://schemas.openxmlformats.org/drawingml/2006/main">
            <a:off x="555256" y="1990725"/>
            <a:ext cx="8166837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Needs you-label">
            <a:extLst xmlns:a="http://schemas.openxmlformats.org/drawingml/2006/main">
              <a:ext uri="{FF2B5EF4-FFF2-40B4-BE49-F238E27FC236}">
                <a16:creationId xmlns:a16="http://schemas.microsoft.com/office/drawing/2014/main" id="{486485B5-C054-4CC5-98A3-587FAD9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336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Needs you</a:t>
            </a:r>
          </a:p>
        </p:txBody>
      </p:sp>
      <p:sp>
        <p:nvSpPr>
          <p:cNvPr id="7" name="Needs you-body">
            <a:extLst xmlns:a="http://schemas.openxmlformats.org/drawingml/2006/main">
              <a:ext uri="{FF2B5EF4-FFF2-40B4-BE49-F238E27FC236}">
                <a16:creationId xmlns:a16="http://schemas.microsoft.com/office/drawing/2014/main" id="{58F12044-2C36-4FDD-9D85-47FD724C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00325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Answer a question</a:t>
            </a:r>
          </a:p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or unblock a decision.</a:t>
            </a:r>
          </a:p>
        </p:txBody>
      </p:sp>
      <p:sp>
        <p:nvSpPr>
          <p:cNvPr id="8" name="Working-label">
            <a:extLst xmlns:a="http://schemas.openxmlformats.org/drawingml/2006/main">
              <a:ext uri="{FF2B5EF4-FFF2-40B4-BE49-F238E27FC236}">
                <a16:creationId xmlns:a16="http://schemas.microsoft.com/office/drawing/2014/main" id="{BE7AB1D3-2CA1-4827-A102-A55114B6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052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9" name="Working-body">
            <a:extLst xmlns:a="http://schemas.openxmlformats.org/drawingml/2006/main">
              <a:ext uri="{FF2B5EF4-FFF2-40B4-BE49-F238E27FC236}">
                <a16:creationId xmlns:a16="http://schemas.microsoft.com/office/drawing/2014/main" id="{4BB57C7F-FB71-4E4D-A877-40F77045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71950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Let the task run</a:t>
            </a:r>
          </a:p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while you focus.</a:t>
            </a:r>
          </a:p>
        </p:txBody>
      </p:sp>
      <p:sp>
        <p:nvSpPr>
          <p:cNvPr id="10" name="Idle or done-label">
            <a:extLst xmlns:a="http://schemas.openxmlformats.org/drawingml/2006/main">
              <a:ext uri="{FF2B5EF4-FFF2-40B4-BE49-F238E27FC236}">
                <a16:creationId xmlns:a16="http://schemas.microsoft.com/office/drawing/2014/main" id="{7617D429-5DDD-402E-9C35-0B6FB0A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57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B9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0B9FF"/>
                </a:solidFill>
                <a:latin typeface="Arial"/>
                <a:ea typeface="Arial"/>
                <a:cs typeface="Arial"/>
              </a:rPr>
              <a:t>Idle or done</a:t>
            </a:r>
          </a:p>
        </p:txBody>
      </p:sp>
      <p:sp>
        <p:nvSpPr>
          <p:cNvPr id="11" name="Idle or done-body">
            <a:extLst xmlns:a="http://schemas.openxmlformats.org/drawingml/2006/main">
              <a:ext uri="{FF2B5EF4-FFF2-40B4-BE49-F238E27FC236}">
                <a16:creationId xmlns:a16="http://schemas.microsoft.com/office/drawing/2014/main" id="{96101E5D-DEB3-4309-91CA-4AF3CE1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724525"/>
            <a:ext cx="2628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Review the outcome.</a:t>
            </a:r>
          </a:p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Choose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4273401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2E142FAF-CFC3-43D9-9A56-9967EDF3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Decisions arrive in your Inbox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0812A7-6A37-46F6-A23D-508E24B3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Questions and reports stay connected to the relevant session.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E117B5F-2F0B-4221-97C2-2E732A1F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66C4EC-C1B9-43C3-8A61-4DB3AC52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1FA3899A-F292-4743-A114-BBDB2B1B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EXAMPLE AGENT QUESTION</a:t>
            </a:r>
          </a:p>
        </p:txBody>
      </p:sp>
      <p:sp>
        <p:nvSpPr>
          <p:cNvPr id="6" name="agent-question">
            <a:extLst xmlns:a="http://schemas.openxmlformats.org/drawingml/2006/main">
              <a:ext uri="{FF2B5EF4-FFF2-40B4-BE49-F238E27FC236}">
                <a16:creationId xmlns:a16="http://schemas.microsoft.com/office/drawing/2014/main" id="{4D9B98C1-25F4-4B73-952E-54AD28D4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10953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“Should I isolate the test</a:t>
            </a:r>
          </a:p>
          <a:p xmlns:a="http://schemas.openxmlformats.org/drawingml/2006/main">
            <a:pPr algn="l">
              <a:defRPr sz="32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or change the shared mock?”</a:t>
            </a:r>
          </a:p>
        </p:txBody>
      </p:sp>
      <p:sp>
        <p:nvSpPr>
          <p:cNvPr id="7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51B2F822-C698-451E-B32E-A541D8F8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YOUR REPLY</a:t>
            </a:r>
          </a:p>
        </p:txBody>
      </p:sp>
      <p:sp>
        <p:nvSpPr>
          <p:cNvPr id="8" name="human-answer">
            <a:extLst xmlns:a="http://schemas.openxmlformats.org/drawingml/2006/main">
              <a:ext uri="{FF2B5EF4-FFF2-40B4-BE49-F238E27FC236}">
                <a16:creationId xmlns:a16="http://schemas.microsoft.com/office/drawing/2014/main" id="{31535D22-DC41-4089-A76A-BE169EC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“Isolate the test. Keep production behavior unchanged.”</a:t>
            </a:r>
          </a:p>
        </p:txBody>
      </p:sp>
      <p:sp>
        <p:nvSpPr>
          <p:cNvPr id="9" name="inbox-flow-0">
            <a:extLst xmlns:a="http://schemas.openxmlformats.org/drawingml/2006/main">
              <a:ext uri="{FF2B5EF4-FFF2-40B4-BE49-F238E27FC236}">
                <a16:creationId xmlns:a16="http://schemas.microsoft.com/office/drawing/2014/main" id="{1D9B0F78-7E76-4041-9BFD-71B4D037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2C48"/>
          </a:solidFill>
          <a:ln xmlns:a="http://schemas.openxmlformats.org/drawingml/2006/main" w="11430">
            <a:solidFill>
              <a:srgbClr val="34496B"/>
            </a:solidFill>
            <a:prstDash val="solid"/>
          </a:ln>
        </p:spPr>
      </p:sp>
      <p:sp>
        <p:nvSpPr>
          <p:cNvPr id="10" name="inbox-flow-label-0">
            <a:extLst xmlns:a="http://schemas.openxmlformats.org/drawingml/2006/main">
              <a:ext uri="{FF2B5EF4-FFF2-40B4-BE49-F238E27FC236}">
                <a16:creationId xmlns:a16="http://schemas.microsoft.com/office/drawing/2014/main" id="{CABFBD3F-2228-4CC7-822A-1ADAD7E2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Agent asks</a:t>
            </a:r>
          </a:p>
        </p:txBody>
      </p:sp>
      <p:sp>
        <p:nvSpPr>
          <p:cNvPr id="11" name="inbox-flow-1">
            <a:extLst xmlns:a="http://schemas.openxmlformats.org/drawingml/2006/main">
              <a:ext uri="{FF2B5EF4-FFF2-40B4-BE49-F238E27FC236}">
                <a16:creationId xmlns:a16="http://schemas.microsoft.com/office/drawing/2014/main" id="{9307BC7A-A3A1-4A65-8301-F6C98FE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534025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2C48"/>
          </a:solidFill>
          <a:ln xmlns:a="http://schemas.openxmlformats.org/drawingml/2006/main" w="11430">
            <a:solidFill>
              <a:srgbClr val="FFDB9E"/>
            </a:solidFill>
            <a:prstDash val="solid"/>
          </a:ln>
        </p:spPr>
      </p:sp>
      <p:sp>
        <p:nvSpPr>
          <p:cNvPr id="12" name="inbox-flow-label-1">
            <a:extLst xmlns:a="http://schemas.openxmlformats.org/drawingml/2006/main">
              <a:ext uri="{FF2B5EF4-FFF2-40B4-BE49-F238E27FC236}">
                <a16:creationId xmlns:a16="http://schemas.microsoft.com/office/drawing/2014/main" id="{0471A9CC-B759-46E7-AB04-81FA76E5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676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13" name="inbox-flow-2">
            <a:extLst xmlns:a="http://schemas.openxmlformats.org/drawingml/2006/main">
              <a:ext uri="{FF2B5EF4-FFF2-40B4-BE49-F238E27FC236}">
                <a16:creationId xmlns:a16="http://schemas.microsoft.com/office/drawing/2014/main" id="{B92C0526-C50A-4209-BB90-7C8E6FB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34025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2C48"/>
          </a:solidFill>
          <a:ln xmlns:a="http://schemas.openxmlformats.org/drawingml/2006/main" w="11430">
            <a:solidFill>
              <a:srgbClr val="34496B"/>
            </a:solidFill>
            <a:prstDash val="solid"/>
          </a:ln>
        </p:spPr>
      </p:sp>
      <p:sp>
        <p:nvSpPr>
          <p:cNvPr id="14" name="inbox-flow-label-2">
            <a:extLst xmlns:a="http://schemas.openxmlformats.org/drawingml/2006/main">
              <a:ext uri="{FF2B5EF4-FFF2-40B4-BE49-F238E27FC236}">
                <a16:creationId xmlns:a16="http://schemas.microsoft.com/office/drawing/2014/main" id="{D83FFBF0-F04F-491B-BD50-EC8EFC8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You reply</a:t>
            </a:r>
          </a:p>
        </p:txBody>
      </p:sp>
      <p:sp>
        <p:nvSpPr>
          <p:cNvPr id="15" name="inbox-flow-3">
            <a:extLst xmlns:a="http://schemas.openxmlformats.org/drawingml/2006/main">
              <a:ext uri="{FF2B5EF4-FFF2-40B4-BE49-F238E27FC236}">
                <a16:creationId xmlns:a16="http://schemas.microsoft.com/office/drawing/2014/main" id="{709817BB-1DA7-467F-9986-05D0CE65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534025"/>
            <a:ext cx="2266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2C48"/>
          </a:solidFill>
          <a:ln xmlns:a="http://schemas.openxmlformats.org/drawingml/2006/main" w="11430">
            <a:solidFill>
              <a:srgbClr val="34496B"/>
            </a:solidFill>
            <a:prstDash val="solid"/>
          </a:ln>
        </p:spPr>
      </p:sp>
      <p:sp>
        <p:nvSpPr>
          <p:cNvPr id="16" name="inbox-flow-label-3">
            <a:extLst xmlns:a="http://schemas.openxmlformats.org/drawingml/2006/main">
              <a:ext uri="{FF2B5EF4-FFF2-40B4-BE49-F238E27FC236}">
                <a16:creationId xmlns:a16="http://schemas.microsoft.com/office/drawing/2014/main" id="{34C73503-C234-4D60-BFF6-F708756A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6769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Agent continues</a:t>
            </a:r>
          </a:p>
        </p:txBody>
      </p: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5829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DFFF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9775" y="5829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DFFF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43950" y="5829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DFFF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680161843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5AC90835-C3A7-47F1-B5D5-1BEB93D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Findings that stay in the Library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A0DABB-89A6-4742-9702-CA5EAD56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Keep useful context after the original session ends.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4818361-8306-4B53-B8CA-01E4A0F8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92AEA8-0C05-4F2B-B3BD-AAD81ED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example-document">
            <a:extLst xmlns:a="http://schemas.openxmlformats.org/drawingml/2006/main">
              <a:ext uri="{FF2B5EF4-FFF2-40B4-BE49-F238E27FC236}">
                <a16:creationId xmlns:a16="http://schemas.microsoft.com/office/drawing/2014/main" id="{984B7015-59CB-467A-85E3-CE1D713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619125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B6C9E0"/>
            </a:solidFill>
            <a:prstDash val="solid"/>
          </a:ln>
        </p:spPr>
      </p:sp>
      <p:sp>
        <p:nvSpPr>
          <p:cNvPr id="6" name="document-label">
            <a:extLst xmlns:a="http://schemas.openxmlformats.org/drawingml/2006/main">
              <a:ext uri="{FF2B5EF4-FFF2-40B4-BE49-F238E27FC236}">
                <a16:creationId xmlns:a16="http://schemas.microsoft.com/office/drawing/2014/main" id="{E9FD597C-9692-40CB-81DF-AC0FA04C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560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5B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A5B78"/>
                </a:solidFill>
                <a:latin typeface="Arial"/>
                <a:ea typeface="Arial"/>
                <a:cs typeface="Arial"/>
              </a:rPr>
              <a:t>EXAMPLE SAVED FINDING</a:t>
            </a:r>
          </a:p>
        </p:txBody>
      </p:sp>
      <p:sp>
        <p:nvSpPr>
          <p:cNvPr id="7" name="document-title">
            <a:extLst xmlns:a="http://schemas.openxmlformats.org/drawingml/2006/main">
              <a:ext uri="{FF2B5EF4-FFF2-40B4-BE49-F238E27FC236}">
                <a16:creationId xmlns:a16="http://schemas.microsoft.com/office/drawing/2014/main" id="{E6EC2B3E-2674-4B45-8D27-0673A8F4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5514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3B"/>
                </a:solidFill>
                <a:latin typeface="Arial"/>
                <a:ea typeface="Arial"/>
                <a:cs typeface="Arial"/>
              </a:rPr>
              <a:t>Checkout test findings</a:t>
            </a:r>
          </a:p>
        </p:txBody>
      </p:sp>
      <p:sp>
        <p:nvSpPr>
          <p:cNvPr id="8" name="document-body">
            <a:extLst xmlns:a="http://schemas.openxmlformats.org/drawingml/2006/main">
              <a:ext uri="{FF2B5EF4-FFF2-40B4-BE49-F238E27FC236}">
                <a16:creationId xmlns:a16="http://schemas.microsoft.com/office/drawing/2014/main" id="{A91AFD0F-96E8-477E-9863-338D8790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540067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A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65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 algn="l">
              <a:defRPr sz="1725" b="0">
                <a:solidFill>
                  <a:srgbClr val="334A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65"/>
                </a:solidFill>
                <a:latin typeface="Arial"/>
                <a:ea typeface="Arial"/>
                <a:cs typeface="Arial"/>
              </a:rPr>
              <a:t>Shared mock state affected the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A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65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 algn="l">
              <a:defRPr sz="1725" b="0">
                <a:solidFill>
                  <a:srgbClr val="334A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65"/>
                </a:solidFill>
                <a:latin typeface="Arial"/>
                <a:ea typeface="Arial"/>
                <a:cs typeface="Arial"/>
              </a:rPr>
              <a:t>Isolate the test fixture.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334A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65"/>
                </a:solidFill>
                <a:latin typeface="Arial"/>
                <a:ea typeface="Arial"/>
                <a:cs typeface="Arial"/>
              </a:rPr>
              <a:t>Verification</a:t>
            </a:r>
          </a:p>
          <a:p xmlns:a="http://schemas.openxmlformats.org/drawingml/2006/main">
            <a:pPr algn="l">
              <a:defRPr sz="1725" b="0">
                <a:solidFill>
                  <a:srgbClr val="334A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34A65"/>
                </a:solidFill>
                <a:latin typeface="Arial"/>
                <a:ea typeface="Arial"/>
                <a:cs typeface="Arial"/>
              </a:rPr>
              <a:t>Rerun the checkout suite.</a:t>
            </a:r>
          </a:p>
        </p:txBody>
      </p:sp>
      <p:sp>
        <p:nvSpPr>
          <p:cNvPr id="9" name="library-use-title">
            <a:extLst xmlns:a="http://schemas.openxmlformats.org/drawingml/2006/main">
              <a:ext uri="{FF2B5EF4-FFF2-40B4-BE49-F238E27FC236}">
                <a16:creationId xmlns:a16="http://schemas.microsoft.com/office/drawing/2014/main" id="{78E33D1D-9875-4CBA-8103-6BEEDD4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0300"/>
            <a:ext cx="36480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A starting point</a:t>
            </a:r>
          </a:p>
          <a:p xmlns:a="http://schemas.openxmlformats.org/drawingml/2006/main">
            <a:pPr algn="l">
              <a:defRPr sz="28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for the next task</a:t>
            </a:r>
          </a:p>
        </p:txBody>
      </p:sp>
      <p:sp>
        <p:nvSpPr>
          <p:cNvPr id="10" name="library-use-body">
            <a:extLst xmlns:a="http://schemas.openxmlformats.org/drawingml/2006/main">
              <a:ext uri="{FF2B5EF4-FFF2-40B4-BE49-F238E27FC236}">
                <a16:creationId xmlns:a16="http://schemas.microsoft.com/office/drawing/2014/main" id="{F88FB65B-B1FC-4405-B599-9FC5B890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81425"/>
            <a:ext cx="3657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Keep reports and diagrams</a:t>
            </a:r>
          </a:p>
          <a:p xmlns:a="http://schemas.openxmlformats.org/drawingml/2006/main">
            <a:pPr algn="l">
              <a:defRPr sz="20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with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Give the next agent</a:t>
            </a:r>
          </a:p>
          <a:p xmlns:a="http://schemas.openxmlformats.org/drawingml/2006/main">
            <a:pPr algn="l">
              <a:defRPr sz="202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findings it can reuse.</a:t>
            </a:r>
          </a:p>
        </p:txBody>
      </p:sp>
    </p:spTree>
    <p:extLst>
      <p:ext uri="{BB962C8B-B14F-4D97-AF65-F5344CB8AC3E}">
        <p14:creationId xmlns:p14="http://schemas.microsoft.com/office/powerpoint/2010/main" val="120562813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354ECA69-0617-4ED4-A3A2-96F1A19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Reusable ways of working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AEE18E-CF5C-4CC0-BEC3-368C818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Turn a useful approach into something you can run again.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24E7184-266C-4B1E-81FE-A3DF1967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9684641-A6C2-4F28-8F19-D680A509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peat-label-0">
            <a:extLst xmlns:a="http://schemas.openxmlformats.org/drawingml/2006/main">
              <a:ext uri="{FF2B5EF4-FFF2-40B4-BE49-F238E27FC236}">
                <a16:creationId xmlns:a16="http://schemas.microsoft.com/office/drawing/2014/main" id="{C1CE73FF-30E5-4F33-89FC-ADED8C43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Personas</a:t>
            </a:r>
          </a:p>
        </p:txBody>
      </p:sp>
      <p:sp>
        <p:nvSpPr>
          <p:cNvPr id="6" name="repeat-body-0">
            <a:extLst xmlns:a="http://schemas.openxmlformats.org/drawingml/2006/main">
              <a:ext uri="{FF2B5EF4-FFF2-40B4-BE49-F238E27FC236}">
                <a16:creationId xmlns:a16="http://schemas.microsoft.com/office/drawing/2014/main" id="{CD1A92EF-D4D7-4A25-A1A8-AC48378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00275"/>
            <a:ext cx="7172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Reuse a role and its instructions.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A0653-3764-49FD-A77D-2C4B9C3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34496B"/>
            </a:solidFill>
            <a:prstDash val="solid"/>
          </a:ln>
        </p:spPr>
      </p:sp>
      <p:sp>
        <p:nvSpPr>
          <p:cNvPr id="8" name="repeat-label-1">
            <a:extLst xmlns:a="http://schemas.openxmlformats.org/drawingml/2006/main">
              <a:ext uri="{FF2B5EF4-FFF2-40B4-BE49-F238E27FC236}">
                <a16:creationId xmlns:a16="http://schemas.microsoft.com/office/drawing/2014/main" id="{340ECE37-FFA7-490C-BD8B-DF1BF56C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B9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0B9FF"/>
                </a:solidFill>
                <a:latin typeface="Arial"/>
                <a:ea typeface="Arial"/>
                <a:cs typeface="Arial"/>
              </a:rPr>
              <a:t>Teams</a:t>
            </a:r>
          </a:p>
        </p:txBody>
      </p:sp>
      <p:sp>
        <p:nvSpPr>
          <p:cNvPr id="9" name="repeat-body-1">
            <a:extLst xmlns:a="http://schemas.openxmlformats.org/drawingml/2006/main">
              <a:ext uri="{FF2B5EF4-FFF2-40B4-BE49-F238E27FC236}">
                <a16:creationId xmlns:a16="http://schemas.microsoft.com/office/drawing/2014/main" id="{F137C9D0-EA8F-4B3B-90F5-95B188B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71825"/>
            <a:ext cx="7172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Combine complementary agent roles.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EDD16-5851-4792-911A-6AFCDB89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7667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34496B"/>
            </a:solidFill>
            <a:prstDash val="solid"/>
          </a:ln>
        </p:spPr>
      </p:sp>
      <p:sp>
        <p:nvSpPr>
          <p:cNvPr id="11" name="repeat-label-2">
            <a:extLst xmlns:a="http://schemas.openxmlformats.org/drawingml/2006/main">
              <a:ext uri="{FF2B5EF4-FFF2-40B4-BE49-F238E27FC236}">
                <a16:creationId xmlns:a16="http://schemas.microsoft.com/office/drawing/2014/main" id="{5EA83D3C-1217-4322-B90C-D6C103DD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12" name="repeat-body-2">
            <a:extLst xmlns:a="http://schemas.openxmlformats.org/drawingml/2006/main">
              <a:ext uri="{FF2B5EF4-FFF2-40B4-BE49-F238E27FC236}">
                <a16:creationId xmlns:a16="http://schemas.microsoft.com/office/drawing/2014/main" id="{E328C683-56A3-48B6-AD7C-0722A863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43375"/>
            <a:ext cx="7172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Define an objective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22EDF-64F9-421D-9E13-E510DDFB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34496B"/>
            </a:solidFill>
            <a:prstDash val="solid"/>
          </a:ln>
        </p:spPr>
      </p:sp>
      <p:sp>
        <p:nvSpPr>
          <p:cNvPr id="14" name="repeat-label-3">
            <a:extLst xmlns:a="http://schemas.openxmlformats.org/drawingml/2006/main">
              <a:ext uri="{FF2B5EF4-FFF2-40B4-BE49-F238E27FC236}">
                <a16:creationId xmlns:a16="http://schemas.microsoft.com/office/drawing/2014/main" id="{B22281C6-9C23-4265-94F3-3EB34CBE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CE5C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9CE5CD"/>
                </a:solidFill>
                <a:latin typeface="Arial"/>
                <a:ea typeface="Arial"/>
                <a:cs typeface="Arial"/>
              </a:rPr>
              <a:t>Schedules</a:t>
            </a:r>
          </a:p>
        </p:txBody>
      </p:sp>
      <p:sp>
        <p:nvSpPr>
          <p:cNvPr id="15" name="repeat-body-3">
            <a:extLst xmlns:a="http://schemas.openxmlformats.org/drawingml/2006/main">
              <a:ext uri="{FF2B5EF4-FFF2-40B4-BE49-F238E27FC236}">
                <a16:creationId xmlns:a16="http://schemas.microsoft.com/office/drawing/2014/main" id="{1EEA3132-4BAF-4B5C-A9F8-E25B10CE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114925"/>
            <a:ext cx="7172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Run recurring work and receive reports.</a:t>
            </a:r>
          </a:p>
        </p:txBody>
      </p:sp>
    </p:spTree>
    <p:extLst>
      <p:ext uri="{BB962C8B-B14F-4D97-AF65-F5344CB8AC3E}">
        <p14:creationId xmlns:p14="http://schemas.microsoft.com/office/powerpoint/2010/main" val="907888306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4E57FF29-F441-44E1-B0B6-EB700B3F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How Zana works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71749F-B7B9-410D-9CA3-8443C07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Product services authorize. Execution hosts run the work.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7E5C231-5DFA-4660-A817-0D007F2C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1838EC3-6768-4872-AADF-882CFB0F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a04c141294a16"/>
          <a:stretch xmlns:a="http://schemas.openxmlformats.org/drawingml/2006/main"/>
        </p:blipFill>
        <p:spPr>
          <a:xfrm xmlns:a="http://schemas.openxmlformats.org/drawingml/2006/main">
            <a:off x="685800" y="2059142"/>
            <a:ext cx="10820400" cy="3034990"/>
          </a:xfrm>
          <a:prstGeom xmlns:a="http://schemas.openxmlformats.org/drawingml/2006/main" prst="rect">
            <a:avLst/>
          </a:prstGeom>
        </p:spPr>
      </p:pic>
      <p:sp>
        <p:nvSpPr>
          <p:cNvPr id="6" name="Threads-label">
            <a:extLst xmlns:a="http://schemas.openxmlformats.org/drawingml/2006/main">
              <a:ext uri="{FF2B5EF4-FFF2-40B4-BE49-F238E27FC236}">
                <a16:creationId xmlns:a16="http://schemas.microsoft.com/office/drawing/2014/main" id="{B94E9D07-1F5E-4960-9F70-896A1AE5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520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Threads</a:t>
            </a:r>
          </a:p>
        </p:txBody>
      </p:sp>
      <p:sp>
        <p:nvSpPr>
          <p:cNvPr id="7" name="Threads-body">
            <a:extLst xmlns:a="http://schemas.openxmlformats.org/drawingml/2006/main">
              <a:ext uri="{FF2B5EF4-FFF2-40B4-BE49-F238E27FC236}">
                <a16:creationId xmlns:a16="http://schemas.microsoft.com/office/drawing/2014/main" id="{B6F2382B-BC23-4DDF-A6C3-4BA985ED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5200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Signed host commands, agent runtime,</a:t>
            </a:r>
          </a:p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and provider bridges.</a:t>
            </a:r>
          </a:p>
        </p:txBody>
      </p:sp>
      <p:sp>
        <p:nvSpPr>
          <p:cNvPr id="8" name="CLI Agents-label">
            <a:extLst xmlns:a="http://schemas.openxmlformats.org/drawingml/2006/main">
              <a:ext uri="{FF2B5EF4-FFF2-40B4-BE49-F238E27FC236}">
                <a16:creationId xmlns:a16="http://schemas.microsoft.com/office/drawing/2014/main" id="{559D2E86-D248-4B18-969C-87588735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05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CLI Agents</a:t>
            </a:r>
          </a:p>
        </p:txBody>
      </p:sp>
      <p:sp>
        <p:nvSpPr>
          <p:cNvPr id="9" name="CLI Agents-body">
            <a:extLst xmlns:a="http://schemas.openxmlformats.org/drawingml/2006/main">
              <a:ext uri="{FF2B5EF4-FFF2-40B4-BE49-F238E27FC236}">
                <a16:creationId xmlns:a16="http://schemas.microsoft.com/office/drawing/2014/main" id="{AFEA6305-9AB1-4C32-9AF6-A66EE56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721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Desktop launch path, host harnesses,</a:t>
            </a:r>
          </a:p>
          <a:p xmlns:a="http://schemas.openxmlformats.org/drawingml/2006/main">
            <a:pPr algn="l">
              <a:defRPr sz="180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and real terminal sessions.</a:t>
            </a:r>
          </a:p>
        </p:txBody>
      </p:sp>
    </p:spTree>
    <p:extLst>
      <p:ext uri="{BB962C8B-B14F-4D97-AF65-F5344CB8AC3E}">
        <p14:creationId xmlns:p14="http://schemas.microsoft.com/office/powerpoint/2010/main" val="155315952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F698780D-8D7E-4F8E-A7B0-C56E9865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Plugins extend Zana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EB062C-5EAB-4E5B-9515-DA31F105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Add views, tools, and workflows through one package.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8C700A25-D2AD-4A2E-BE68-549239F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C16F4F-D2E2-4769-848C-14F3CD89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587ab9a974bb6"/>
          <a:stretch xmlns:a="http://schemas.openxmlformats.org/drawingml/2006/main"/>
        </p:blipFill>
        <p:spPr>
          <a:xfrm xmlns:a="http://schemas.openxmlformats.org/drawingml/2006/main">
            <a:off x="923925" y="1764216"/>
            <a:ext cx="10344150" cy="3910593"/>
          </a:xfrm>
          <a:prstGeom xmlns:a="http://schemas.openxmlformats.org/drawingml/2006/main" prst="rect">
            <a:avLst/>
          </a:prstGeom>
        </p:spPr>
      </p:pic>
      <p:sp>
        <p:nvSpPr>
          <p:cNvPr id="6" name="plugin-cap-title-0">
            <a:extLst xmlns:a="http://schemas.openxmlformats.org/drawingml/2006/main">
              <a:ext uri="{FF2B5EF4-FFF2-40B4-BE49-F238E27FC236}">
                <a16:creationId xmlns:a16="http://schemas.microsoft.com/office/drawing/2014/main" id="{0870EBB7-71AD-4E77-BDAA-F0629D1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0B9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0B9FF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7" name="plugin-cap-body-0">
            <a:extLst xmlns:a="http://schemas.openxmlformats.org/drawingml/2006/main">
              <a:ext uri="{FF2B5EF4-FFF2-40B4-BE49-F238E27FC236}">
                <a16:creationId xmlns:a16="http://schemas.microsoft.com/office/drawing/2014/main" id="{1E357447-E98B-4DF8-98BD-BCBA8D3D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007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Reusable instructions</a:t>
            </a:r>
          </a:p>
        </p:txBody>
      </p:sp>
      <p:sp>
        <p:nvSpPr>
          <p:cNvPr id="8" name="plugin-cap-title-1">
            <a:extLst xmlns:a="http://schemas.openxmlformats.org/drawingml/2006/main">
              <a:ext uri="{FF2B5EF4-FFF2-40B4-BE49-F238E27FC236}">
                <a16:creationId xmlns:a16="http://schemas.microsoft.com/office/drawing/2014/main" id="{AEC93598-4B2D-4FE1-8104-B04EAB2B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388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3DFFF"/>
                </a:solidFill>
                <a:latin typeface="Arial"/>
                <a:ea typeface="Arial"/>
                <a:cs typeface="Arial"/>
              </a:rPr>
              <a:t>Thread tools</a:t>
            </a:r>
          </a:p>
        </p:txBody>
      </p:sp>
      <p:sp>
        <p:nvSpPr>
          <p:cNvPr id="9" name="plugin-cap-body-1">
            <a:extLst xmlns:a="http://schemas.openxmlformats.org/drawingml/2006/main">
              <a:ext uri="{FF2B5EF4-FFF2-40B4-BE49-F238E27FC236}">
                <a16:creationId xmlns:a16="http://schemas.microsoft.com/office/drawing/2014/main" id="{BB4072EE-A5D6-477D-A168-8C89F97C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2007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Registered by server code</a:t>
            </a:r>
          </a:p>
        </p:txBody>
      </p:sp>
      <p:sp>
        <p:nvSpPr>
          <p:cNvPr id="10" name="plugin-cap-title-2">
            <a:extLst xmlns:a="http://schemas.openxmlformats.org/drawingml/2006/main">
              <a:ext uri="{FF2B5EF4-FFF2-40B4-BE49-F238E27FC236}">
                <a16:creationId xmlns:a16="http://schemas.microsoft.com/office/drawing/2014/main" id="{793025DE-31F5-4179-A3DE-52F9F48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388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CLI MCP</a:t>
            </a:r>
          </a:p>
        </p:txBody>
      </p:sp>
      <p:sp>
        <p:nvSpPr>
          <p:cNvPr id="11" name="plugin-cap-body-2">
            <a:extLst xmlns:a="http://schemas.openxmlformats.org/drawingml/2006/main">
              <a:ext uri="{FF2B5EF4-FFF2-40B4-BE49-F238E27FC236}">
                <a16:creationId xmlns:a16="http://schemas.microsoft.com/office/drawing/2014/main" id="{6F4ED6AD-EEC4-42AF-AC8D-3C615D4C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2007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Declared in the manifest</a:t>
            </a:r>
          </a:p>
        </p:txBody>
      </p:sp>
    </p:spTree>
    <p:extLst>
      <p:ext uri="{BB962C8B-B14F-4D97-AF65-F5344CB8AC3E}">
        <p14:creationId xmlns:p14="http://schemas.microsoft.com/office/powerpoint/2010/main" val="517874242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2641"/>
            </a:gs>
            <a:gs pos="100000">
              <a:srgbClr val="0D152B"/>
            </a:gs>
          </a:gsLst>
          <a:lin ang="1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8648BD7B-2005-44B7-8F26-F6A37E1A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Get started with Zana</a:t>
            </a:r>
          </a:p>
        </p:txBody>
      </p:sp>
      <p:sp>
        <p:nvSpPr>
          <p:cNvPr id="2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52ED1DC-E3CF-436B-9F95-8E8B49C1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Zana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D6FB70-D5DF-4736-82E9-E69BD9F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start-number-0">
            <a:extLst xmlns:a="http://schemas.openxmlformats.org/drawingml/2006/main">
              <a:ext uri="{FF2B5EF4-FFF2-40B4-BE49-F238E27FC236}">
                <a16:creationId xmlns:a16="http://schemas.microsoft.com/office/drawing/2014/main" id="{D6382644-458F-4A57-9CFC-CDEC2F34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533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tart-action-0">
            <a:extLst xmlns:a="http://schemas.openxmlformats.org/drawingml/2006/main">
              <a:ext uri="{FF2B5EF4-FFF2-40B4-BE49-F238E27FC236}">
                <a16:creationId xmlns:a16="http://schemas.microsoft.com/office/drawing/2014/main" id="{4E4A41DD-1F3C-411A-A218-AFB39FD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952625"/>
            <a:ext cx="7362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Download the macOS app</a:t>
            </a:r>
          </a:p>
        </p:txBody>
      </p:sp>
      <p:sp>
        <p:nvSpPr>
          <p:cNvPr id="6" name="start-number-1">
            <a:extLst xmlns:a="http://schemas.openxmlformats.org/drawingml/2006/main">
              <a:ext uri="{FF2B5EF4-FFF2-40B4-BE49-F238E27FC236}">
                <a16:creationId xmlns:a16="http://schemas.microsoft.com/office/drawing/2014/main" id="{F2170156-B746-440D-B7D2-2F263D2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33675"/>
            <a:ext cx="533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start-action-1">
            <a:extLst xmlns:a="http://schemas.openxmlformats.org/drawingml/2006/main">
              <a:ext uri="{FF2B5EF4-FFF2-40B4-BE49-F238E27FC236}">
                <a16:creationId xmlns:a16="http://schemas.microsoft.com/office/drawing/2014/main" id="{243506DB-0CFF-4D42-B20A-FEFAFBC4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00350"/>
            <a:ext cx="7362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Add your first project</a:t>
            </a:r>
          </a:p>
        </p:txBody>
      </p:sp>
      <p:sp>
        <p:nvSpPr>
          <p:cNvPr id="8" name="start-number-2">
            <a:extLst xmlns:a="http://schemas.openxmlformats.org/drawingml/2006/main">
              <a:ext uri="{FF2B5EF4-FFF2-40B4-BE49-F238E27FC236}">
                <a16:creationId xmlns:a16="http://schemas.microsoft.com/office/drawing/2014/main" id="{3733F961-7002-47AE-8223-5B97884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81400"/>
            <a:ext cx="533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DB9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DB9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start-action-2">
            <a:extLst xmlns:a="http://schemas.openxmlformats.org/drawingml/2006/main">
              <a:ext uri="{FF2B5EF4-FFF2-40B4-BE49-F238E27FC236}">
                <a16:creationId xmlns:a16="http://schemas.microsoft.com/office/drawing/2014/main" id="{73DB3105-8ED6-4196-A8AD-8B0A4563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48075"/>
            <a:ext cx="7362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Start a Thread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aa07168244f72"/>
          <a:stretch xmlns:a="http://schemas.openxmlformats.org/drawingml/2006/main"/>
        </p:blipFill>
        <p:spPr>
          <a:xfrm xmlns:a="http://schemas.openxmlformats.org/drawingml/2006/main">
            <a:off x="8905875" y="1819275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website-link">
            <a:extLst xmlns:a="http://schemas.openxmlformats.org/drawingml/2006/main">
              <a:ext uri="{FF2B5EF4-FFF2-40B4-BE49-F238E27FC236}">
                <a16:creationId xmlns:a16="http://schemas.microsoft.com/office/drawing/2014/main" id="{3ED85804-30D6-4494-8BB6-0955EAA5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93DFFF"/>
                </a:solidFill>
                <a:latin typeface="Arial"/>
                <a:ea typeface="Arial"/>
                <a:cs typeface="Arial"/>
                <a:hlinkClick xmlns:r="http://schemas.openxmlformats.org/officeDocument/2006/relationships" r:id="R705b55c955e3404e"/>
              </a:rPr>
              <a:t>zana-ide.com</a:t>
            </a:r>
          </a:p>
        </p:txBody>
      </p:sp>
      <p:sp>
        <p:nvSpPr>
          <p:cNvPr id="12" name="github-link">
            <a:extLst xmlns:a="http://schemas.openxmlformats.org/drawingml/2006/main">
              <a:ext uri="{FF2B5EF4-FFF2-40B4-BE49-F238E27FC236}">
                <a16:creationId xmlns:a16="http://schemas.microsoft.com/office/drawing/2014/main" id="{3EEC5703-F246-4551-9E77-9566DCE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00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93D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3DFFF"/>
                </a:solidFill>
                <a:latin typeface="Arial"/>
                <a:ea typeface="Arial"/>
                <a:cs typeface="Arial"/>
                <a:hlinkClick xmlns:r="http://schemas.openxmlformats.org/officeDocument/2006/relationships" r:id="Re9f5114cc52142d2"/>
              </a:rPr>
              <a:t>github.com/salesforce/zana</a:t>
            </a:r>
          </a:p>
        </p:txBody>
      </p:sp>
      <p:sp>
        <p:nvSpPr>
          <p:cNvPr id="13" name="requirements">
            <a:extLst xmlns:a="http://schemas.openxmlformats.org/drawingml/2006/main">
              <a:ext uri="{FF2B5EF4-FFF2-40B4-BE49-F238E27FC236}">
                <a16:creationId xmlns:a16="http://schemas.microsoft.com/office/drawing/2014/main" id="{36B93308-D602-4F9E-860F-C6B66B9C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991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6C9E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6C9E0"/>
                </a:solidFill>
                <a:latin typeface="Arial"/>
                <a:ea typeface="Arial"/>
                <a:cs typeface="Arial"/>
              </a:rPr>
              <a:t>Node.js 20+ and Git, with your coding-agent CLI installed and authenticated.</a:t>
            </a:r>
          </a:p>
        </p:txBody>
      </p:sp>
    </p:spTree>
    <p:extLst>
      <p:ext uri="{BB962C8B-B14F-4D97-AF65-F5344CB8AC3E}">
        <p14:creationId xmlns:p14="http://schemas.microsoft.com/office/powerpoint/2010/main" val="867554375"/>
      </p:ext>
    </p:extLst>
  </p:cSld>
</p:sld>
</file>

<file path=ppt/theme/theme1.xml><?xml version="1.0" encoding="utf-8"?>
<a:theme xmlns:a="http://schemas.openxmlformats.org/drawingml/2006/main" name="ChatGPT">
  <a:themeElements>
    <a:clrScheme name="Zana Fairy">
      <a:dk1>
        <a:srgbClr val="0D152B"/>
      </a:dk1>
      <a:lt1>
        <a:srgbClr val="F0F7FF"/>
      </a:lt1>
      <a:dk2>
        <a:srgbClr val="172641"/>
      </a:dk2>
      <a:lt2>
        <a:srgbClr val="D7E8FA"/>
      </a:lt2>
      <a:accent1>
        <a:srgbClr val="93DFFF"/>
      </a:accent1>
      <a:accent2>
        <a:srgbClr val="C0B9FF"/>
      </a:accent2>
      <a:accent3>
        <a:srgbClr val="FFDB9E"/>
      </a:accent3>
      <a:accent4>
        <a:srgbClr val="9CE5CD"/>
      </a:accent4>
      <a:accent5>
        <a:srgbClr val="7996E5"/>
      </a:accent5>
      <a:accent6>
        <a:srgbClr val="D7E8FA"/>
      </a:accent6>
      <a:hlink>
        <a:srgbClr val="93DFFF"/>
      </a:hlink>
      <a:folHlink>
        <a:srgbClr val="C0B9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Zana Fai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2026-09-20T08:02:34.9050000Z</dcterms:created>
  <dcterms:modified xsi:type="dcterms:W3CDTF">2026-09-20T08:02:34.9050000Z</dcterms:modified>
</coreProperties>
</file>